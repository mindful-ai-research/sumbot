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imo Bold" charset="1" panose="020B0704020202020204"/>
      <p:regular r:id="rId11"/>
    </p:embeddedFont>
    <p:embeddedFont>
      <p:font typeface="Arimo" charset="1" panose="020B0604020202020204"/>
      <p:regular r:id="rId12"/>
    </p:embeddedFont>
    <p:embeddedFont>
      <p:font typeface="Gordita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Mindful-AI-Assistants/SumBot" TargetMode="External" Type="http://schemas.openxmlformats.org/officeDocument/2006/relationships/hyperlink"/><Relationship Id="rId11" Target="https://github.com/Mindful-AI-Assistants/SumBot" TargetMode="External" Type="http://schemas.openxmlformats.org/officeDocument/2006/relationships/hyperlink"/><Relationship Id="rId12" Target="https://www.mlyearning.org" TargetMode="External" Type="http://schemas.openxmlformats.org/officeDocument/2006/relationships/hyperlink"/><Relationship Id="rId13" Target="../media/image4.png" Type="http://schemas.openxmlformats.org/officeDocument/2006/relationships/image"/><Relationship Id="rId14" Target="../media/image5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https://github.com/Mindful-AI-Assistants/SumBot" TargetMode="External" Type="http://schemas.openxmlformats.org/officeDocument/2006/relationships/hyperlink"/><Relationship Id="rId6" Target="https://github.com/Mindful-AI-Assistants/SumBot" TargetMode="External" Type="http://schemas.openxmlformats.org/officeDocument/2006/relationships/hyperlink"/><Relationship Id="rId7" Target="https://github.com/Mindful-AI-Assistants/SumBot" TargetMode="External" Type="http://schemas.openxmlformats.org/officeDocument/2006/relationships/hyperlink"/><Relationship Id="rId8" Target="https://github.com/Mindful-AI-Assistants/SumBot" TargetMode="External" Type="http://schemas.openxmlformats.org/officeDocument/2006/relationships/hyperlink"/><Relationship Id="rId9" Target="https://github.com/Mindful-AI-Assistants/SumBo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Mindful-AI-Assistants/SumBot" TargetMode="External" Type="http://schemas.openxmlformats.org/officeDocument/2006/relationships/hyperlink"/><Relationship Id="rId11" Target="https://github.com/Mindful-AI-Assistants/SumBot" TargetMode="External" Type="http://schemas.openxmlformats.org/officeDocument/2006/relationships/hyperlink"/><Relationship Id="rId12" Target="../media/image8.png" Type="http://schemas.openxmlformats.org/officeDocument/2006/relationships/image"/><Relationship Id="rId13" Target="../media/image5.png" Type="http://schemas.openxmlformats.org/officeDocument/2006/relationships/image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https://github.com/Mindful-AI-Assistants/SumBot" TargetMode="External" Type="http://schemas.openxmlformats.org/officeDocument/2006/relationships/hyperlink"/><Relationship Id="rId8" Target="https://github.com/Mindful-AI-Assistants/SumBot" TargetMode="External" Type="http://schemas.openxmlformats.org/officeDocument/2006/relationships/hyperlink"/><Relationship Id="rId9" Target="https://github.com/Mindful-AI-Assistants/SumBot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5.png" Type="http://schemas.openxmlformats.org/officeDocument/2006/relationships/image"/><Relationship Id="rId12" Target="../media/image9.png" Type="http://schemas.openxmlformats.org/officeDocument/2006/relationships/image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https://github.com/Mindful-AI-Assistants/SumBot" TargetMode="External" Type="http://schemas.openxmlformats.org/officeDocument/2006/relationships/hyperlink"/><Relationship Id="rId6" Target="https://github.com/Mindful-AI-Assistants/SumBot" TargetMode="External" Type="http://schemas.openxmlformats.org/officeDocument/2006/relationships/hyperlink"/><Relationship Id="rId7" Target="https://github.com/Mindful-AI-Assistants/SumBot" TargetMode="External" Type="http://schemas.openxmlformats.org/officeDocument/2006/relationships/hyperlink"/><Relationship Id="rId8" Target="https://github.com/Mindful-AI-Assistants/SumBot" TargetMode="External" Type="http://schemas.openxmlformats.org/officeDocument/2006/relationships/hyperlink"/><Relationship Id="rId9" Target="https://github.com/Mindful-AI-Assistants/SumBot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Mindful-AI-Assistants/SumBot" TargetMode="External" Type="http://schemas.openxmlformats.org/officeDocument/2006/relationships/hyperlink"/><Relationship Id="rId11" Target="https://github.com/Mindful-AI-Assistants/SumBot" TargetMode="External" Type="http://schemas.openxmlformats.org/officeDocument/2006/relationships/hyperlink"/><Relationship Id="rId12" Target="../media/image8.png" Type="http://schemas.openxmlformats.org/officeDocument/2006/relationships/image"/><Relationship Id="rId13" Target="../media/image5.png" Type="http://schemas.openxmlformats.org/officeDocument/2006/relationships/image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7.png" Type="http://schemas.openxmlformats.org/officeDocument/2006/relationships/image"/><Relationship Id="rId7" Target="https://github.com/Mindful-AI-Assistants/SumBot" TargetMode="External" Type="http://schemas.openxmlformats.org/officeDocument/2006/relationships/hyperlink"/><Relationship Id="rId8" Target="https://github.com/Mindful-AI-Assistants/SumBot" TargetMode="External" Type="http://schemas.openxmlformats.org/officeDocument/2006/relationships/hyperlink"/><Relationship Id="rId9" Target="https://github.com/Mindful-AI-Assistants/SumBot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3.png" Type="http://schemas.openxmlformats.org/officeDocument/2006/relationships/image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https://github.com/Mindful-AI-Assistants/SumBot" TargetMode="External" Type="http://schemas.openxmlformats.org/officeDocument/2006/relationships/hyperlink"/><Relationship Id="rId5" Target="https://github.com/Mindful-AI-Assistants/SumBot" TargetMode="External" Type="http://schemas.openxmlformats.org/officeDocument/2006/relationships/hyperlink"/><Relationship Id="rId6" Target="https://github.com/Mindful-AI-Assistants/SumBot" TargetMode="External" Type="http://schemas.openxmlformats.org/officeDocument/2006/relationships/hyperlink"/><Relationship Id="rId7" Target="https://github.com/Mindful-AI-Assistants/SumBot" TargetMode="External" Type="http://schemas.openxmlformats.org/officeDocument/2006/relationships/hyperlink"/><Relationship Id="rId8" Target="https://github.com/Mindful-AI-Assistants/SumBot" TargetMode="External" Type="http://schemas.openxmlformats.org/officeDocument/2006/relationships/hyperlink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3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0269" y="6400095"/>
            <a:ext cx="3884334" cy="3918062"/>
          </a:xfrm>
          <a:custGeom>
            <a:avLst/>
            <a:gdLst/>
            <a:ahLst/>
            <a:cxnLst/>
            <a:rect r="r" b="b" t="t" l="l"/>
            <a:pathLst>
              <a:path h="3918062" w="3884334">
                <a:moveTo>
                  <a:pt x="0" y="0"/>
                </a:moveTo>
                <a:lnTo>
                  <a:pt x="3884334" y="0"/>
                </a:lnTo>
                <a:lnTo>
                  <a:pt x="3884334" y="3918062"/>
                </a:lnTo>
                <a:lnTo>
                  <a:pt x="0" y="391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006" r="-378415" b="-17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1499" y="340855"/>
            <a:ext cx="3670800" cy="555035"/>
          </a:xfrm>
          <a:custGeom>
            <a:avLst/>
            <a:gdLst/>
            <a:ahLst/>
            <a:cxnLst/>
            <a:rect r="r" b="b" t="t" l="l"/>
            <a:pathLst>
              <a:path h="555035" w="3670800">
                <a:moveTo>
                  <a:pt x="0" y="0"/>
                </a:moveTo>
                <a:lnTo>
                  <a:pt x="3670800" y="0"/>
                </a:lnTo>
                <a:lnTo>
                  <a:pt x="3670800" y="555035"/>
                </a:lnTo>
                <a:lnTo>
                  <a:pt x="0" y="555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74204" y="4088060"/>
            <a:ext cx="5740497" cy="253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399"/>
              </a:lnSpc>
              <a:buAutoNum type="arabicPeriod" startAt="1"/>
            </a:pPr>
            <a:r>
              <a:rPr lang="en-US" b="true" sz="1599" spc="-17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Configuração do Motor de IA</a:t>
            </a:r>
            <a:r>
              <a:rPr lang="en-US" b="true" sz="1599" spc="-17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Uso da API da OpenAI com o modelo GPT-3.5 Turbo para geração de resumos.</a:t>
            </a:r>
          </a:p>
          <a:p>
            <a:pPr algn="l" marL="345439" indent="-172720" lvl="1">
              <a:lnSpc>
                <a:spcPts val="2239"/>
              </a:lnSpc>
              <a:buAutoNum type="arabicPeriod" startAt="1"/>
            </a:pPr>
            <a:r>
              <a:rPr lang="en-US" b="true" sz="1599" spc="-52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Integração com Slack</a:t>
            </a:r>
            <a:r>
              <a:rPr lang="en-US" b="true" sz="1599" spc="-52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Implementação do chatbot na plataforma para interação com usuários.</a:t>
            </a:r>
          </a:p>
          <a:p>
            <a:pPr algn="l" marL="345439" indent="-172720" lvl="1">
              <a:lnSpc>
                <a:spcPts val="2239"/>
              </a:lnSpc>
              <a:buAutoNum type="arabicPeriod" startAt="1"/>
            </a:pPr>
            <a:r>
              <a:rPr lang="en-US" b="true" sz="1599" spc="-52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Automação via Zapier</a:t>
            </a:r>
            <a:r>
              <a:rPr lang="en-US" b="true" sz="1599" spc="-52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Gatilho de resumos acionado pelo emoji :bowtie:.</a:t>
            </a:r>
          </a:p>
          <a:p>
            <a:pPr algn="l" marL="345439" indent="-172720" lvl="1">
              <a:lnSpc>
                <a:spcPts val="2239"/>
              </a:lnSpc>
              <a:buAutoNum type="arabicPeriod" startAt="1"/>
            </a:pPr>
            <a:r>
              <a:rPr lang="en-US" b="true" sz="1599" spc="-52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Testes e Ajustes</a:t>
            </a:r>
            <a:r>
              <a:rPr lang="en-US" b="true" sz="1599" spc="-52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Avaliação da precisão e automação em diferentes cenários.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789673" y="6768858"/>
            <a:ext cx="3682675" cy="230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500" spc="-37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Fabiana 🚀 Campanari  PUC-SP</a:t>
            </a:r>
          </a:p>
          <a:p>
            <a:pPr algn="l">
              <a:lnSpc>
                <a:spcPts val="1814"/>
              </a:lnSpc>
            </a:pPr>
            <a:r>
              <a:rPr lang="en-US" sz="1500" spc="-37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-</a:t>
            </a:r>
            <a:r>
              <a:rPr lang="en-US" b="true" sz="1500" spc="-37" u="sng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Graduação atual</a:t>
            </a:r>
            <a:r>
              <a:rPr lang="en-US" sz="1500" spc="-37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 </a:t>
            </a:r>
            <a:r>
              <a:rPr lang="en-US" sz="1500" spc="-37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Ciência de Dados e Inteligencia Artificial:</a:t>
            </a:r>
            <a:r>
              <a:rPr lang="en-US" sz="1500" spc="-37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PUC-SP</a:t>
            </a:r>
          </a:p>
          <a:p>
            <a:pPr algn="l">
              <a:lnSpc>
                <a:spcPts val="1814"/>
              </a:lnSpc>
            </a:pPr>
            <a:r>
              <a:rPr lang="en-US" sz="1500" spc="-113">
                <a:solidFill>
                  <a:srgbClr val="FFFEFE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r>
              <a:rPr lang="en-US" sz="1500" spc="-113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1500" spc="-113" u="sng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Formações anteriores</a:t>
            </a:r>
            <a:r>
              <a:rPr lang="en-US" sz="1500" spc="-113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  <a:p>
            <a:pPr algn="l" marL="323850" indent="-161925" lvl="1">
              <a:lnSpc>
                <a:spcPts val="1814"/>
              </a:lnSpc>
              <a:buFont typeface="Arial"/>
              <a:buChar char="•"/>
            </a:pPr>
            <a:r>
              <a:rPr lang="en-US" b="true" sz="1500" spc="-113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Análise e Desenvolvimento de Sistemas</a:t>
            </a:r>
            <a:r>
              <a:rPr lang="en-US" b="true" sz="1500" spc="-113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Universidade Impacta Tecnologia</a:t>
            </a:r>
          </a:p>
          <a:p>
            <a:pPr algn="l" marL="323850" indent="-161925" lvl="1">
              <a:lnSpc>
                <a:spcPts val="1814"/>
              </a:lnSpc>
              <a:buFont typeface="Arial"/>
              <a:buChar char="•"/>
            </a:pPr>
            <a:r>
              <a:rPr lang="en-US" b="true" sz="1500" spc="-113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Design:</a:t>
            </a:r>
            <a:r>
              <a:rPr lang="en-US" b="true" sz="1500" spc="-113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UC San Diego, California</a:t>
            </a:r>
          </a:p>
          <a:p>
            <a:pPr algn="l" marL="323850" indent="-161925" lvl="1">
              <a:lnSpc>
                <a:spcPts val="1814"/>
              </a:lnSpc>
              <a:buFont typeface="Arial"/>
              <a:buChar char="•"/>
            </a:pPr>
            <a:r>
              <a:rPr lang="en-US" b="true" sz="1500" spc="-113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Psicologia: </a:t>
            </a:r>
            <a:r>
              <a:rPr lang="en-US" b="true" sz="1500" spc="-113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PUC-SP</a:t>
            </a:r>
          </a:p>
          <a:p>
            <a:pPr algn="l">
              <a:lnSpc>
                <a:spcPts val="1814"/>
              </a:lnSpc>
            </a:pPr>
          </a:p>
          <a:p>
            <a:pPr algn="l">
              <a:lnSpc>
                <a:spcPts val="1814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-790175" y="6381626"/>
            <a:ext cx="18288000" cy="1905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088937" y="1193784"/>
            <a:ext cx="0" cy="5225942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1310422" y="1183678"/>
            <a:ext cx="0" cy="5225942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088598" y="3723487"/>
            <a:ext cx="6236966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-5" y="1203890"/>
            <a:ext cx="18288010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86649" y="6419726"/>
            <a:ext cx="0" cy="5225942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3594085" y="8667542"/>
            <a:ext cx="18288000" cy="1905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3594065" y="6419726"/>
            <a:ext cx="0" cy="5225942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29310" y="151189"/>
            <a:ext cx="13357443" cy="875466"/>
            <a:chOff x="0" y="0"/>
            <a:chExt cx="17809924" cy="116728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221138"/>
              <a:ext cx="17809924" cy="946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b="true" sz="1999" spc="109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SUMBOT FREECODE: </a:t>
              </a:r>
            </a:p>
            <a:p>
              <a:pPr algn="ctr">
                <a:lnSpc>
                  <a:spcPts val="2999"/>
                </a:lnSpc>
              </a:pPr>
              <a:r>
                <a:rPr lang="en-US" b="true" sz="1999" spc="109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🦾🤖 CHATBOT IA INTEGRADO AO SLACK COM OPENAI GPT-3.5 TURBO API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5887726" y="0"/>
              <a:ext cx="819544" cy="735488"/>
            </a:xfrm>
            <a:custGeom>
              <a:avLst/>
              <a:gdLst/>
              <a:ahLst/>
              <a:cxnLst/>
              <a:rect r="r" b="b" t="t" l="l"/>
              <a:pathLst>
                <a:path h="735488" w="819544">
                  <a:moveTo>
                    <a:pt x="0" y="0"/>
                  </a:moveTo>
                  <a:lnTo>
                    <a:pt x="819544" y="0"/>
                  </a:lnTo>
                  <a:lnTo>
                    <a:pt x="819544" y="735488"/>
                  </a:lnTo>
                  <a:lnTo>
                    <a:pt x="0" y="73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539022" y="1534725"/>
            <a:ext cx="6405909" cy="53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-</a:t>
            </a:r>
            <a:r>
              <a:rPr lang="en-US" sz="1599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 Usuários</a:t>
            </a: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O SumBot FreeCode atendeu a profissionais de negócios, estudantes, pesquisadores e equipes de atendimento, proporcionando acesso prático a informações resumidas.</a:t>
            </a:r>
          </a:p>
          <a:p>
            <a:pPr algn="l">
              <a:lnSpc>
                <a:spcPts val="1807"/>
              </a:lnSpc>
            </a:pPr>
          </a:p>
          <a:p>
            <a:pPr algn="l">
              <a:lnSpc>
                <a:spcPts val="1807"/>
              </a:lnSpc>
            </a:pP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- </a:t>
            </a:r>
            <a:r>
              <a:rPr lang="en-US" sz="1599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Eficiência</a:t>
            </a: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Os usuários economizaram tempo ao optar por resumos, permitindo foco nos pontos principais sem a necessidade de ler textos longos.</a:t>
            </a:r>
          </a:p>
          <a:p>
            <a:pPr algn="l">
              <a:lnSpc>
                <a:spcPts val="1807"/>
              </a:lnSpc>
            </a:pPr>
          </a:p>
          <a:p>
            <a:pPr algn="l">
              <a:lnSpc>
                <a:spcPts val="1807"/>
              </a:lnSpc>
            </a:pP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-</a:t>
            </a:r>
            <a:r>
              <a:rPr lang="en-US" sz="1599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 Produtividade</a:t>
            </a: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A condensação de informações melhorou a gestão do fluxo de trabalho, permitindo que os usuários priorizassem tarefas com base em resumos claros.</a:t>
            </a:r>
          </a:p>
          <a:p>
            <a:pPr algn="l">
              <a:lnSpc>
                <a:spcPts val="1807"/>
              </a:lnSpc>
            </a:pPr>
          </a:p>
          <a:p>
            <a:pPr algn="l">
              <a:lnSpc>
                <a:spcPts val="1807"/>
              </a:lnSpc>
            </a:pP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- </a:t>
            </a:r>
            <a:r>
              <a:rPr lang="en-US" sz="1599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Decisão</a:t>
            </a: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Os resumos rápidos facilitaram a tomada de decisões ágeis, proporcionando informações relevantes para ações imediatas.</a:t>
            </a:r>
          </a:p>
          <a:p>
            <a:pPr algn="l">
              <a:lnSpc>
                <a:spcPts val="1807"/>
              </a:lnSpc>
            </a:pPr>
          </a:p>
          <a:p>
            <a:pPr algn="l">
              <a:lnSpc>
                <a:spcPts val="1807"/>
              </a:lnSpc>
            </a:pP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- </a:t>
            </a:r>
            <a:r>
              <a:rPr lang="en-US" sz="1599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Personalização</a:t>
            </a: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: O SumBot adaptou suas estruturas de resumos às necessidades específicas dos usuários, garantindo relevância e eficácia na comunicação.</a:t>
            </a:r>
          </a:p>
          <a:p>
            <a:pPr algn="l">
              <a:lnSpc>
                <a:spcPts val="1807"/>
              </a:lnSpc>
            </a:pPr>
          </a:p>
          <a:p>
            <a:pPr algn="l">
              <a:lnSpc>
                <a:spcPts val="1807"/>
              </a:lnSpc>
            </a:pPr>
          </a:p>
          <a:p>
            <a:pPr algn="l">
              <a:lnSpc>
                <a:spcPts val="18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269877" y="3828345"/>
            <a:ext cx="547725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63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PERCURSO METODOLÓGICO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94090" y="6495926"/>
            <a:ext cx="36826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63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PESQUISADOR(A) PRINCIPAL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9310" y="1582350"/>
            <a:ext cx="4578652" cy="463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3"/>
              </a:lnSpc>
            </a:pPr>
            <a:r>
              <a:rPr lang="en-US" b="true" sz="1599" spc="14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O </a:t>
            </a:r>
            <a:r>
              <a:rPr lang="en-US" b="true" sz="1599" spc="14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SumBot FreeCode</a:t>
            </a:r>
            <a:r>
              <a:rPr lang="en-US" b="true" sz="1599" spc="14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é um chatbot de Inteligência Artificial que transforma textos longos em resumos concisos, ajudando a gerenciar a sobrecarga de informações.</a:t>
            </a:r>
          </a:p>
          <a:p>
            <a:pPr algn="just">
              <a:lnSpc>
                <a:spcPts val="2063"/>
              </a:lnSpc>
            </a:pPr>
          </a:p>
          <a:p>
            <a:pPr algn="l">
              <a:lnSpc>
                <a:spcPts val="2063"/>
              </a:lnSpc>
            </a:pPr>
            <a:r>
              <a:rPr lang="en-US" sz="1599" spc="14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Utilizando a API da OpenAI com o modelo GPT-3.5 Turbo, a integração com a plataforma Slack é realizada através da automação do Zapier. O SumBot oferece resumos precisos diretamente em ambientes de comunicação, aumentando a eficiência e facilitando o processamento de grandes volumes de informações. </a:t>
            </a:r>
          </a:p>
          <a:p>
            <a:pPr algn="just">
              <a:lnSpc>
                <a:spcPts val="2063"/>
              </a:lnSpc>
            </a:pPr>
          </a:p>
          <a:p>
            <a:pPr algn="just" marL="0" indent="0" lvl="0">
              <a:lnSpc>
                <a:spcPts val="2063"/>
              </a:lnSpc>
            </a:pPr>
            <a:r>
              <a:rPr lang="en-US" b="true" sz="1599" spc="14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Projetado para ser </a:t>
            </a:r>
            <a:r>
              <a:rPr lang="en-US" b="true" sz="1599" spc="14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acessível a usuários de todos os níveis de experiência, não requer conhecimentos de programação</a:t>
            </a:r>
            <a:r>
              <a:rPr lang="en-US" b="true" sz="1599" spc="14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para sua utilização.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9310" y="1289615"/>
            <a:ext cx="214809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63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INTRODUÇÃO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39022" y="1289615"/>
            <a:ext cx="64059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63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ANÁLISE</a:t>
            </a:r>
            <a:r>
              <a:rPr lang="en-US" sz="1400" spc="63" b="true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 E/OU RESULTADOS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82793" y="6554262"/>
            <a:ext cx="971505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63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CONCLUSÕES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69877" y="1516056"/>
            <a:ext cx="5859605" cy="243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99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-</a:t>
            </a: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 Otimizar o processamento de informações extensas através do SumBot FreeCode, oferecendo resumos automáticos que economizam tempo e aumentam a produtividade.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FFEFE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9">
                <a:solidFill>
                  <a:srgbClr val="EABD30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r>
              <a:rPr lang="en-US" sz="1599">
                <a:solidFill>
                  <a:srgbClr val="FFFEFE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Facilitar a tomada de decisões rápidas com base em dados relevantes, acessíveis a usuários sem conhecimentos técnicos.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EABD30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15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Avaliar a eficiência do chatbot na melhoria da comunicação em ambientes empresariais e acadêmicos.</a:t>
            </a:r>
          </a:p>
          <a:p>
            <a:pPr algn="l">
              <a:lnSpc>
                <a:spcPts val="191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782793" y="6852077"/>
            <a:ext cx="10162138" cy="234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sz="1699" spc="-2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 SumBot FreeCode inova na gestão de informações, integrando-se ao Slack com o modelo GPT-3.5 Turbo para resumir dados de forma clara e acessível, sem necessidade de programação e sendo acessível para todos. </a:t>
            </a:r>
            <a:r>
              <a:rPr lang="en-US" sz="1699" spc="-20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Para desenvolver seu próprio SumBot, acesse:</a:t>
            </a:r>
          </a:p>
          <a:p>
            <a:pPr algn="l">
              <a:lnSpc>
                <a:spcPts val="1535"/>
              </a:lnSpc>
            </a:pPr>
          </a:p>
          <a:p>
            <a:pPr algn="l">
              <a:lnSpc>
                <a:spcPts val="1535"/>
              </a:lnSpc>
            </a:pPr>
            <a:r>
              <a:rPr lang="en-US" b="true" sz="1599" spc="-1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5" tooltip="https://github.com/Mindful-AI-Assistants/SumBot"/>
              </a:rPr>
              <a:t>       </a:t>
            </a:r>
            <a:r>
              <a:rPr lang="en-US" sz="1599" spc="-19">
                <a:solidFill>
                  <a:srgbClr val="3199EB"/>
                </a:solidFill>
                <a:latin typeface="Arimo"/>
                <a:ea typeface="Arimo"/>
                <a:cs typeface="Arimo"/>
                <a:sym typeface="Arimo"/>
              </a:rPr>
              <a:t>    </a:t>
            </a:r>
            <a:r>
              <a:rPr lang="en-US" b="true" sz="1599" spc="-1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github.com/Mindful-AI-Assistants/SumBot"/>
              </a:rPr>
              <a:t>GitHub:</a:t>
            </a:r>
            <a:r>
              <a:rPr lang="en-US" sz="1599" spc="-19">
                <a:solidFill>
                  <a:srgbClr val="3199EB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b="true" sz="1599" spc="-19" u="sng">
                <a:solidFill>
                  <a:srgbClr val="3199EB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github.com/Mindful-AI-Assistants/SumBot"/>
              </a:rPr>
              <a:t>https://github.com/Mindful-AI-Assistants/SumBot</a:t>
            </a:r>
          </a:p>
          <a:p>
            <a:pPr algn="l">
              <a:lnSpc>
                <a:spcPts val="1535"/>
              </a:lnSpc>
            </a:pPr>
          </a:p>
          <a:p>
            <a:pPr algn="l">
              <a:lnSpc>
                <a:spcPts val="1535"/>
              </a:lnSpc>
            </a:pPr>
            <a:r>
              <a:rPr lang="en-US" b="true" sz="1599" spc="-19">
                <a:solidFill>
                  <a:srgbClr val="3199EB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github.com/Mindful-AI-Assistants/SumBot"/>
              </a:rPr>
              <a:t>    </a:t>
            </a:r>
            <a:r>
              <a:rPr lang="en-US" sz="1599" spc="-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</a:t>
            </a:r>
            <a:r>
              <a:rPr lang="en-US" b="true" sz="1599" spc="-1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github.com/Mindful-AI-Assistants/SumBot"/>
              </a:rPr>
              <a:t>Ready Tensor AI:</a:t>
            </a:r>
            <a:r>
              <a:rPr lang="en-US" sz="1599" spc="-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b="true" sz="1599" spc="-19" u="sng">
                <a:solidFill>
                  <a:srgbClr val="3199EB"/>
                </a:solidFill>
                <a:latin typeface="Arimo Bold"/>
                <a:ea typeface="Arimo Bold"/>
                <a:cs typeface="Arimo Bold"/>
                <a:sym typeface="Arimo Bold"/>
                <a:hlinkClick r:id="rId10" tooltip="https://github.com/Mindful-AI-Assistants/SumBot"/>
              </a:rPr>
              <a:t>https://app.readytensor.ai/publications/uaWsno2Z7r2a</a:t>
            </a:r>
          </a:p>
          <a:p>
            <a:pPr algn="l">
              <a:lnSpc>
                <a:spcPts val="1535"/>
              </a:lnSpc>
            </a:pPr>
          </a:p>
          <a:p>
            <a:pPr algn="l">
              <a:lnSpc>
                <a:spcPts val="1535"/>
              </a:lnSpc>
            </a:pPr>
            <a:r>
              <a:rPr lang="en-US" b="true" sz="1599" spc="-1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11" tooltip="https://github.com/Mindful-AI-Assistants/SumBot"/>
              </a:rPr>
              <a:t>Esse projeto exemplifica como a IA pode otimizar a interação com informações.</a:t>
            </a:r>
          </a:p>
          <a:p>
            <a:pPr algn="l">
              <a:lnSpc>
                <a:spcPts val="1535"/>
              </a:lnSpc>
            </a:pPr>
          </a:p>
          <a:p>
            <a:pPr algn="l">
              <a:lnSpc>
                <a:spcPts val="1535"/>
              </a:lnSpc>
            </a:pPr>
          </a:p>
          <a:p>
            <a:pPr algn="l">
              <a:lnSpc>
                <a:spcPts val="153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269877" y="1270565"/>
            <a:ext cx="574482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63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OBJETIVO(S) DA PESQUISA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94090" y="9043428"/>
            <a:ext cx="368267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Este projeto foi desenvolvido sem a colaboração de terceiros.</a:t>
            </a:r>
          </a:p>
          <a:p>
            <a:pPr algn="l">
              <a:lnSpc>
                <a:spcPts val="210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794090" y="8774188"/>
            <a:ext cx="220782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63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COLABORADORES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00949" y="9033903"/>
            <a:ext cx="1024398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250"/>
              </a:lnSpc>
              <a:buAutoNum type="arabicPeriod" startAt="1"/>
            </a:pPr>
            <a:r>
              <a:rPr lang="en-US" b="true" sz="1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RAJ, S. Construindo chatbots com Python. São Paulo: Novatec, 2020.</a:t>
            </a:r>
          </a:p>
          <a:p>
            <a:pPr algn="l" marL="323850" indent="-161925" lvl="1">
              <a:lnSpc>
                <a:spcPts val="2250"/>
              </a:lnSpc>
              <a:buAutoNum type="arabicPeriod" startAt="1"/>
            </a:pPr>
            <a:r>
              <a:rPr lang="en-US" b="true" sz="1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NG, A. Machine Learning Yearning: Technical Strategy for AI Engineers, In the Era of Deep Learning. 2018. Disponível em:</a:t>
            </a:r>
            <a:r>
              <a:rPr lang="en-US" b="true" sz="1500">
                <a:solidFill>
                  <a:srgbClr val="3199E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1500" u="sng">
                <a:solidFill>
                  <a:srgbClr val="3199EB"/>
                </a:solidFill>
                <a:latin typeface="Arimo Bold"/>
                <a:ea typeface="Arimo Bold"/>
                <a:cs typeface="Arimo Bold"/>
                <a:sym typeface="Arimo Bold"/>
                <a:hlinkClick r:id="rId12" tooltip="https://www.mlyearning.org"/>
              </a:rPr>
              <a:t>https://www.mlyearning.org</a:t>
            </a:r>
            <a:r>
              <a:rPr lang="en-US" b="true" sz="1500" u="sng">
                <a:solidFill>
                  <a:srgbClr val="3199EB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7700949" y="8774188"/>
            <a:ext cx="887792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63">
                <a:solidFill>
                  <a:srgbClr val="3199EB"/>
                </a:solidFill>
                <a:latin typeface="Gordita Bold"/>
                <a:ea typeface="Gordita Bold"/>
                <a:cs typeface="Gordita Bold"/>
                <a:sym typeface="Gordita Bold"/>
              </a:rPr>
              <a:t>PRINCIPAL REFERENCIAL TEÓRICO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996923" y="7540862"/>
            <a:ext cx="290733" cy="296308"/>
          </a:xfrm>
          <a:custGeom>
            <a:avLst/>
            <a:gdLst/>
            <a:ahLst/>
            <a:cxnLst/>
            <a:rect r="r" b="b" t="t" l="l"/>
            <a:pathLst>
              <a:path h="296308" w="290733">
                <a:moveTo>
                  <a:pt x="0" y="0"/>
                </a:moveTo>
                <a:lnTo>
                  <a:pt x="290732" y="0"/>
                </a:lnTo>
                <a:lnTo>
                  <a:pt x="290732" y="296308"/>
                </a:lnTo>
                <a:lnTo>
                  <a:pt x="0" y="2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16226" b="-14039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018029" y="7951470"/>
            <a:ext cx="284598" cy="296972"/>
          </a:xfrm>
          <a:custGeom>
            <a:avLst/>
            <a:gdLst/>
            <a:ahLst/>
            <a:cxnLst/>
            <a:rect r="r" b="b" t="t" l="l"/>
            <a:pathLst>
              <a:path h="296972" w="284598">
                <a:moveTo>
                  <a:pt x="0" y="0"/>
                </a:moveTo>
                <a:lnTo>
                  <a:pt x="284598" y="0"/>
                </a:lnTo>
                <a:lnTo>
                  <a:pt x="284598" y="296972"/>
                </a:lnTo>
                <a:lnTo>
                  <a:pt x="0" y="2969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3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31499" y="340855"/>
            <a:ext cx="3670800" cy="555035"/>
          </a:xfrm>
          <a:custGeom>
            <a:avLst/>
            <a:gdLst/>
            <a:ahLst/>
            <a:cxnLst/>
            <a:rect r="r" b="b" t="t" l="l"/>
            <a:pathLst>
              <a:path h="555035" w="3670800">
                <a:moveTo>
                  <a:pt x="0" y="0"/>
                </a:moveTo>
                <a:lnTo>
                  <a:pt x="3670800" y="0"/>
                </a:lnTo>
                <a:lnTo>
                  <a:pt x="3670800" y="555035"/>
                </a:lnTo>
                <a:lnTo>
                  <a:pt x="0" y="55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" y="1203890"/>
            <a:ext cx="18288010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90269" y="6400095"/>
            <a:ext cx="3884334" cy="3918062"/>
          </a:xfrm>
          <a:custGeom>
            <a:avLst/>
            <a:gdLst/>
            <a:ahLst/>
            <a:cxnLst/>
            <a:rect r="r" b="b" t="t" l="l"/>
            <a:pathLst>
              <a:path h="3918062" w="3884334">
                <a:moveTo>
                  <a:pt x="0" y="0"/>
                </a:moveTo>
                <a:lnTo>
                  <a:pt x="3884334" y="0"/>
                </a:lnTo>
                <a:lnTo>
                  <a:pt x="3884334" y="3918062"/>
                </a:lnTo>
                <a:lnTo>
                  <a:pt x="0" y="391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5006" r="-378415" b="-178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790180" y="6294387"/>
            <a:ext cx="4504739" cy="5382350"/>
            <a:chOff x="0" y="0"/>
            <a:chExt cx="6006319" cy="7176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66548" y="826"/>
              <a:ext cx="5313545" cy="5359682"/>
            </a:xfrm>
            <a:custGeom>
              <a:avLst/>
              <a:gdLst/>
              <a:ahLst/>
              <a:cxnLst/>
              <a:rect r="r" b="b" t="t" l="l"/>
              <a:pathLst>
                <a:path h="5359682" w="5313545">
                  <a:moveTo>
                    <a:pt x="0" y="0"/>
                  </a:moveTo>
                  <a:lnTo>
                    <a:pt x="5313545" y="0"/>
                  </a:lnTo>
                  <a:lnTo>
                    <a:pt x="5313545" y="5359682"/>
                  </a:lnTo>
                  <a:lnTo>
                    <a:pt x="0" y="5359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5006" r="-378415" b="-1785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>
              <a:off x="5980093" y="27680"/>
              <a:ext cx="0" cy="7148787"/>
            </a:xfrm>
            <a:prstGeom prst="line">
              <a:avLst/>
            </a:prstGeom>
            <a:ln cap="flat" w="52452">
              <a:solidFill>
                <a:srgbClr val="EABD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3" y="26226"/>
              <a:ext cx="6006312" cy="775"/>
            </a:xfrm>
            <a:prstGeom prst="line">
              <a:avLst/>
            </a:prstGeom>
            <a:ln cap="flat" w="52452">
              <a:solidFill>
                <a:srgbClr val="EABD3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29310" y="151189"/>
            <a:ext cx="13357443" cy="875466"/>
            <a:chOff x="0" y="0"/>
            <a:chExt cx="17809924" cy="116728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21138"/>
              <a:ext cx="17809924" cy="946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b="true" sz="1999" spc="109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SUMBOT FREECODE: </a:t>
              </a:r>
            </a:p>
            <a:p>
              <a:pPr algn="ctr">
                <a:lnSpc>
                  <a:spcPts val="2999"/>
                </a:lnSpc>
              </a:pPr>
              <a:r>
                <a:rPr lang="en-US" b="true" sz="1999" spc="109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🦾🤖 CHATBOT IA INTEGRADO AO SLACK COM OPENAI GPT-3.5 TURBO API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5887726" y="0"/>
              <a:ext cx="819544" cy="735488"/>
            </a:xfrm>
            <a:custGeom>
              <a:avLst/>
              <a:gdLst/>
              <a:ahLst/>
              <a:cxnLst/>
              <a:rect r="r" b="b" t="t" l="l"/>
              <a:pathLst>
                <a:path h="735488" w="819544">
                  <a:moveTo>
                    <a:pt x="0" y="0"/>
                  </a:moveTo>
                  <a:lnTo>
                    <a:pt x="819544" y="0"/>
                  </a:lnTo>
                  <a:lnTo>
                    <a:pt x="819544" y="735488"/>
                  </a:lnTo>
                  <a:lnTo>
                    <a:pt x="0" y="73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579751" y="2146230"/>
            <a:ext cx="12252055" cy="7943416"/>
            <a:chOff x="0" y="0"/>
            <a:chExt cx="9144000" cy="5928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22300" y="203200"/>
              <a:ext cx="7848600" cy="4965700"/>
            </a:xfrm>
            <a:custGeom>
              <a:avLst/>
              <a:gdLst/>
              <a:ahLst/>
              <a:cxnLst/>
              <a:rect r="r" b="b" t="t" l="l"/>
              <a:pathLst>
                <a:path h="4965700" w="7848600">
                  <a:moveTo>
                    <a:pt x="0" y="0"/>
                  </a:moveTo>
                  <a:lnTo>
                    <a:pt x="7848600" y="0"/>
                  </a:lnTo>
                  <a:lnTo>
                    <a:pt x="7848600" y="4965700"/>
                  </a:lnTo>
                  <a:lnTo>
                    <a:pt x="0" y="496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238" t="0" r="-6238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5928360"/>
            </a:xfrm>
            <a:custGeom>
              <a:avLst/>
              <a:gdLst/>
              <a:ahLst/>
              <a:cxnLst/>
              <a:rect r="r" b="b" t="t" l="l"/>
              <a:pathLst>
                <a:path h="5928360" w="9144000">
                  <a:moveTo>
                    <a:pt x="9144000" y="5928360"/>
                  </a:moveTo>
                  <a:lnTo>
                    <a:pt x="0" y="592836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592836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274204" y="4097585"/>
            <a:ext cx="574049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29310" y="1553775"/>
            <a:ext cx="457865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782793" y="6813977"/>
            <a:ext cx="101621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269877" y="1544250"/>
            <a:ext cx="585960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7690" y="1978590"/>
            <a:ext cx="629554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71">
                <a:solidFill>
                  <a:srgbClr val="FFFEFE"/>
                </a:solidFill>
                <a:latin typeface="Gordita Bold"/>
                <a:ea typeface="Gordita Bold"/>
                <a:cs typeface="Gordita Bold"/>
                <a:sym typeface="Gordita Bold"/>
              </a:rPr>
              <a:t>PARA CRIAR  SEU PRÓPRIO </a:t>
            </a:r>
            <a:r>
              <a:rPr lang="en-US" b="true" sz="1599" spc="71">
                <a:solidFill>
                  <a:srgbClr val="EABD30"/>
                </a:solidFill>
                <a:latin typeface="Gordita Bold"/>
                <a:ea typeface="Gordita Bold"/>
                <a:cs typeface="Gordita Bold"/>
                <a:sym typeface="Gordita Bold"/>
              </a:rPr>
              <a:t>SUMBOT</a:t>
            </a:r>
            <a:r>
              <a:rPr lang="en-US" b="true" sz="1599" spc="71">
                <a:solidFill>
                  <a:srgbClr val="FFFEFE"/>
                </a:solidFill>
                <a:latin typeface="Gordita Bold"/>
                <a:ea typeface="Gordita Bold"/>
                <a:cs typeface="Gordita Bold"/>
                <a:sym typeface="Gordita Bold"/>
              </a:rPr>
              <a:t>, ACESSE: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7690" y="3096128"/>
            <a:ext cx="6057288" cy="2333750"/>
            <a:chOff x="0" y="0"/>
            <a:chExt cx="8076385" cy="311166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92075"/>
              <a:ext cx="8076385" cy="3019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1799" spc="-21">
                  <a:solidFill>
                    <a:srgbClr val="3199EB"/>
                  </a:solidFill>
                  <a:latin typeface="Arimo"/>
                  <a:ea typeface="Arimo"/>
                  <a:cs typeface="Arimo"/>
                  <a:sym typeface="Arimo"/>
                </a:rPr>
                <a:t>         </a:t>
              </a:r>
              <a:r>
                <a:rPr lang="en-US" b="true" sz="1799" spc="-2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  <a:hlinkClick r:id="rId7" tooltip="https://github.com/Mindful-AI-Assistants/SumBot"/>
                </a:rPr>
                <a:t>GitHub:</a:t>
              </a:r>
              <a:r>
                <a:rPr lang="en-US" b="true" sz="1799" spc="-21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  <a:hlinkClick r:id="rId8" tooltip="https://github.com/Mindful-AI-Assistants/SumBot"/>
                </a:rPr>
                <a:t> </a:t>
              </a:r>
            </a:p>
            <a:p>
              <a:pPr algn="l">
                <a:lnSpc>
                  <a:spcPts val="2511"/>
                </a:lnSpc>
              </a:pPr>
              <a:r>
                <a:rPr lang="en-US" b="true" sz="1599" spc="-19" u="sng">
                  <a:solidFill>
                    <a:srgbClr val="1DA4F1"/>
                  </a:solidFill>
                  <a:latin typeface="Arimo Bold"/>
                  <a:ea typeface="Arimo Bold"/>
                  <a:cs typeface="Arimo Bold"/>
                  <a:sym typeface="Arimo Bold"/>
                  <a:hlinkClick r:id="rId9" tooltip="https://github.com/Mindful-AI-Assistants/SumBot"/>
                </a:rPr>
                <a:t>https://github.com/Mindful-AI-Assistants/SumBot</a:t>
              </a:r>
            </a:p>
            <a:p>
              <a:pPr algn="l">
                <a:lnSpc>
                  <a:spcPts val="2607"/>
                </a:lnSpc>
              </a:pPr>
            </a:p>
            <a:p>
              <a:pPr algn="l">
                <a:lnSpc>
                  <a:spcPts val="2607"/>
                </a:lnSpc>
              </a:pPr>
            </a:p>
            <a:p>
              <a:pPr algn="l">
                <a:lnSpc>
                  <a:spcPts val="2933"/>
                </a:lnSpc>
              </a:pPr>
              <a:r>
                <a:rPr lang="en-US" sz="1799" spc="-2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</a:t>
              </a:r>
              <a:r>
                <a:rPr lang="en-US" b="true" sz="1799" spc="-2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  <a:hlinkClick r:id="rId10" tooltip="https://github.com/Mindful-AI-Assistants/SumBot"/>
                </a:rPr>
                <a:t>Ready Tensor AI:   </a:t>
              </a:r>
            </a:p>
            <a:p>
              <a:pPr algn="l">
                <a:lnSpc>
                  <a:spcPts val="2831"/>
                </a:lnSpc>
              </a:pPr>
              <a:r>
                <a:rPr lang="en-US" b="true" sz="1737" spc="-20" u="sng">
                  <a:solidFill>
                    <a:srgbClr val="1DA4F1"/>
                  </a:solidFill>
                  <a:latin typeface="Arimo Bold"/>
                  <a:ea typeface="Arimo Bold"/>
                  <a:cs typeface="Arimo Bold"/>
                  <a:sym typeface="Arimo Bold"/>
                  <a:hlinkClick r:id="rId11" tooltip="https://github.com/Mindful-AI-Assistants/SumBot"/>
                </a:rPr>
                <a:t>https://app.readytensor.ai/publications/uaWsno2Z7r2a</a:t>
              </a:r>
            </a:p>
            <a:p>
              <a:pPr algn="l">
                <a:lnSpc>
                  <a:spcPts val="1471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9510" cy="599510"/>
            </a:xfrm>
            <a:custGeom>
              <a:avLst/>
              <a:gdLst/>
              <a:ahLst/>
              <a:cxnLst/>
              <a:rect r="r" b="b" t="t" l="l"/>
              <a:pathLst>
                <a:path h="599510" w="599510">
                  <a:moveTo>
                    <a:pt x="0" y="0"/>
                  </a:moveTo>
                  <a:lnTo>
                    <a:pt x="599510" y="0"/>
                  </a:lnTo>
                  <a:lnTo>
                    <a:pt x="599510" y="599510"/>
                  </a:lnTo>
                  <a:lnTo>
                    <a:pt x="0" y="59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801715"/>
              <a:ext cx="504917" cy="526870"/>
            </a:xfrm>
            <a:custGeom>
              <a:avLst/>
              <a:gdLst/>
              <a:ahLst/>
              <a:cxnLst/>
              <a:rect r="r" b="b" t="t" l="l"/>
              <a:pathLst>
                <a:path h="526870" w="504917">
                  <a:moveTo>
                    <a:pt x="0" y="0"/>
                  </a:moveTo>
                  <a:lnTo>
                    <a:pt x="504917" y="0"/>
                  </a:lnTo>
                  <a:lnTo>
                    <a:pt x="504917" y="526870"/>
                  </a:lnTo>
                  <a:lnTo>
                    <a:pt x="0" y="52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3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31499" y="340855"/>
            <a:ext cx="3670800" cy="555035"/>
          </a:xfrm>
          <a:custGeom>
            <a:avLst/>
            <a:gdLst/>
            <a:ahLst/>
            <a:cxnLst/>
            <a:rect r="r" b="b" t="t" l="l"/>
            <a:pathLst>
              <a:path h="555035" w="3670800">
                <a:moveTo>
                  <a:pt x="0" y="0"/>
                </a:moveTo>
                <a:lnTo>
                  <a:pt x="3670800" y="0"/>
                </a:lnTo>
                <a:lnTo>
                  <a:pt x="3670800" y="555035"/>
                </a:lnTo>
                <a:lnTo>
                  <a:pt x="0" y="55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" y="1203890"/>
            <a:ext cx="18288010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90269" y="6400095"/>
            <a:ext cx="3884334" cy="3918062"/>
          </a:xfrm>
          <a:custGeom>
            <a:avLst/>
            <a:gdLst/>
            <a:ahLst/>
            <a:cxnLst/>
            <a:rect r="r" b="b" t="t" l="l"/>
            <a:pathLst>
              <a:path h="3918062" w="3884334">
                <a:moveTo>
                  <a:pt x="0" y="0"/>
                </a:moveTo>
                <a:lnTo>
                  <a:pt x="3884334" y="0"/>
                </a:lnTo>
                <a:lnTo>
                  <a:pt x="3884334" y="3918062"/>
                </a:lnTo>
                <a:lnTo>
                  <a:pt x="0" y="391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5006" r="-378415" b="-17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90269" y="6295007"/>
            <a:ext cx="3985159" cy="4019762"/>
          </a:xfrm>
          <a:custGeom>
            <a:avLst/>
            <a:gdLst/>
            <a:ahLst/>
            <a:cxnLst/>
            <a:rect r="r" b="b" t="t" l="l"/>
            <a:pathLst>
              <a:path h="4019762" w="3985159">
                <a:moveTo>
                  <a:pt x="0" y="0"/>
                </a:moveTo>
                <a:lnTo>
                  <a:pt x="3985159" y="0"/>
                </a:lnTo>
                <a:lnTo>
                  <a:pt x="3985159" y="4019762"/>
                </a:lnTo>
                <a:lnTo>
                  <a:pt x="0" y="4019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5006" r="-378415" b="-1785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694890" y="6315148"/>
            <a:ext cx="0" cy="536159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-790177" y="6314057"/>
            <a:ext cx="4504734" cy="581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29310" y="151189"/>
            <a:ext cx="13357443" cy="875466"/>
            <a:chOff x="0" y="0"/>
            <a:chExt cx="17809924" cy="116728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21138"/>
              <a:ext cx="17809924" cy="946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b="true" sz="1999" spc="109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SUMBOT FREECODE: </a:t>
              </a:r>
            </a:p>
            <a:p>
              <a:pPr algn="ctr">
                <a:lnSpc>
                  <a:spcPts val="2999"/>
                </a:lnSpc>
              </a:pPr>
              <a:r>
                <a:rPr lang="en-US" b="true" sz="1999" spc="109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🦾🤖 CHATBOT IA INTEGRADO AO SLACK COM OPENAI GPT-3.5 TURBO API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5887726" y="0"/>
              <a:ext cx="819544" cy="735488"/>
            </a:xfrm>
            <a:custGeom>
              <a:avLst/>
              <a:gdLst/>
              <a:ahLst/>
              <a:cxnLst/>
              <a:rect r="r" b="b" t="t" l="l"/>
              <a:pathLst>
                <a:path h="735488" w="819544">
                  <a:moveTo>
                    <a:pt x="0" y="0"/>
                  </a:moveTo>
                  <a:lnTo>
                    <a:pt x="819544" y="0"/>
                  </a:lnTo>
                  <a:lnTo>
                    <a:pt x="819544" y="735488"/>
                  </a:lnTo>
                  <a:lnTo>
                    <a:pt x="0" y="73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274204" y="4097585"/>
            <a:ext cx="574049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9310" y="1553775"/>
            <a:ext cx="457865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782793" y="6813977"/>
            <a:ext cx="101621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269877" y="1544250"/>
            <a:ext cx="585960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7690" y="1978590"/>
            <a:ext cx="629554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71">
                <a:solidFill>
                  <a:srgbClr val="FFFEFE"/>
                </a:solidFill>
                <a:latin typeface="Gordita Bold"/>
                <a:ea typeface="Gordita Bold"/>
                <a:cs typeface="Gordita Bold"/>
                <a:sym typeface="Gordita Bold"/>
              </a:rPr>
              <a:t>PARA CRIAR  SEU PRÓPRIO </a:t>
            </a:r>
            <a:r>
              <a:rPr lang="en-US" b="true" sz="1599" spc="71">
                <a:solidFill>
                  <a:srgbClr val="EABD30"/>
                </a:solidFill>
                <a:latin typeface="Gordita Bold"/>
                <a:ea typeface="Gordita Bold"/>
                <a:cs typeface="Gordita Bold"/>
                <a:sym typeface="Gordita Bold"/>
              </a:rPr>
              <a:t>SUMBOT</a:t>
            </a:r>
            <a:r>
              <a:rPr lang="en-US" b="true" sz="1599" spc="71">
                <a:solidFill>
                  <a:srgbClr val="FFFEFE"/>
                </a:solidFill>
                <a:latin typeface="Gordita Bold"/>
                <a:ea typeface="Gordita Bold"/>
                <a:cs typeface="Gordita Bold"/>
                <a:sym typeface="Gordita Bold"/>
              </a:rPr>
              <a:t>, ACESSE: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690" y="3096128"/>
            <a:ext cx="6057288" cy="2333750"/>
            <a:chOff x="0" y="0"/>
            <a:chExt cx="8076385" cy="311166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2075"/>
              <a:ext cx="8076385" cy="3019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1799" spc="-21">
                  <a:solidFill>
                    <a:srgbClr val="3199EB"/>
                  </a:solidFill>
                  <a:latin typeface="Arimo"/>
                  <a:ea typeface="Arimo"/>
                  <a:cs typeface="Arimo"/>
                  <a:sym typeface="Arimo"/>
                </a:rPr>
                <a:t>         </a:t>
              </a:r>
              <a:r>
                <a:rPr lang="en-US" b="true" sz="1799" spc="-2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  <a:hlinkClick r:id="rId5" tooltip="https://github.com/Mindful-AI-Assistants/SumBot"/>
                </a:rPr>
                <a:t>GitHub:</a:t>
              </a:r>
              <a:r>
                <a:rPr lang="en-US" b="true" sz="1799" spc="-21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  <a:hlinkClick r:id="rId6" tooltip="https://github.com/Mindful-AI-Assistants/SumBot"/>
                </a:rPr>
                <a:t> </a:t>
              </a:r>
            </a:p>
            <a:p>
              <a:pPr algn="l">
                <a:lnSpc>
                  <a:spcPts val="2511"/>
                </a:lnSpc>
              </a:pPr>
              <a:r>
                <a:rPr lang="en-US" b="true" sz="1599" spc="-19" u="sng">
                  <a:solidFill>
                    <a:srgbClr val="1DA4F1"/>
                  </a:solidFill>
                  <a:latin typeface="Arimo Bold"/>
                  <a:ea typeface="Arimo Bold"/>
                  <a:cs typeface="Arimo Bold"/>
                  <a:sym typeface="Arimo Bold"/>
                  <a:hlinkClick r:id="rId7" tooltip="https://github.com/Mindful-AI-Assistants/SumBot"/>
                </a:rPr>
                <a:t>https://github.com/Mindful-AI-Assistants/SumBot</a:t>
              </a:r>
            </a:p>
            <a:p>
              <a:pPr algn="l">
                <a:lnSpc>
                  <a:spcPts val="2607"/>
                </a:lnSpc>
              </a:pPr>
            </a:p>
            <a:p>
              <a:pPr algn="l">
                <a:lnSpc>
                  <a:spcPts val="2607"/>
                </a:lnSpc>
              </a:pPr>
            </a:p>
            <a:p>
              <a:pPr algn="l">
                <a:lnSpc>
                  <a:spcPts val="2933"/>
                </a:lnSpc>
              </a:pPr>
              <a:r>
                <a:rPr lang="en-US" sz="1799" spc="-2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</a:t>
              </a:r>
              <a:r>
                <a:rPr lang="en-US" b="true" sz="1799" spc="-2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  <a:hlinkClick r:id="rId8" tooltip="https://github.com/Mindful-AI-Assistants/SumBot"/>
                </a:rPr>
                <a:t>Ready Tensor AI:   </a:t>
              </a:r>
            </a:p>
            <a:p>
              <a:pPr algn="l">
                <a:lnSpc>
                  <a:spcPts val="2831"/>
                </a:lnSpc>
              </a:pPr>
              <a:r>
                <a:rPr lang="en-US" b="true" sz="1737" spc="-20" u="sng">
                  <a:solidFill>
                    <a:srgbClr val="1DA4F1"/>
                  </a:solidFill>
                  <a:latin typeface="Arimo Bold"/>
                  <a:ea typeface="Arimo Bold"/>
                  <a:cs typeface="Arimo Bold"/>
                  <a:sym typeface="Arimo Bold"/>
                  <a:hlinkClick r:id="rId9" tooltip="https://github.com/Mindful-AI-Assistants/SumBot"/>
                </a:rPr>
                <a:t>https://app.readytensor.ai/publications/uaWsno2Z7r2a</a:t>
              </a:r>
            </a:p>
            <a:p>
              <a:pPr algn="l">
                <a:lnSpc>
                  <a:spcPts val="1471"/>
                </a:lnSpc>
              </a:pP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9510" cy="599510"/>
            </a:xfrm>
            <a:custGeom>
              <a:avLst/>
              <a:gdLst/>
              <a:ahLst/>
              <a:cxnLst/>
              <a:rect r="r" b="b" t="t" l="l"/>
              <a:pathLst>
                <a:path h="599510" w="599510">
                  <a:moveTo>
                    <a:pt x="0" y="0"/>
                  </a:moveTo>
                  <a:lnTo>
                    <a:pt x="599510" y="0"/>
                  </a:lnTo>
                  <a:lnTo>
                    <a:pt x="599510" y="599510"/>
                  </a:lnTo>
                  <a:lnTo>
                    <a:pt x="0" y="59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801715"/>
              <a:ext cx="504917" cy="526870"/>
            </a:xfrm>
            <a:custGeom>
              <a:avLst/>
              <a:gdLst/>
              <a:ahLst/>
              <a:cxnLst/>
              <a:rect r="r" b="b" t="t" l="l"/>
              <a:pathLst>
                <a:path h="526870" w="504917">
                  <a:moveTo>
                    <a:pt x="0" y="0"/>
                  </a:moveTo>
                  <a:lnTo>
                    <a:pt x="504917" y="0"/>
                  </a:lnTo>
                  <a:lnTo>
                    <a:pt x="504917" y="526870"/>
                  </a:lnTo>
                  <a:lnTo>
                    <a:pt x="0" y="52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AutoShape 20" id="20"/>
          <p:cNvSpPr/>
          <p:nvPr/>
        </p:nvSpPr>
        <p:spPr>
          <a:xfrm flipV="true">
            <a:off x="11852736" y="5628749"/>
            <a:ext cx="6435264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7107981" y="2484858"/>
            <a:ext cx="4837486" cy="6703447"/>
            <a:chOff x="0" y="0"/>
            <a:chExt cx="4734560" cy="65608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6830" y="50800"/>
              <a:ext cx="4645660" cy="6473190"/>
            </a:xfrm>
            <a:custGeom>
              <a:avLst/>
              <a:gdLst/>
              <a:ahLst/>
              <a:cxnLst/>
              <a:rect r="r" b="b" t="t" l="l"/>
              <a:pathLst>
                <a:path h="6473190" w="464566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6511"/>
              <a:ext cx="4716780" cy="6544310"/>
            </a:xfrm>
            <a:custGeom>
              <a:avLst/>
              <a:gdLst/>
              <a:ahLst/>
              <a:cxnLst/>
              <a:rect r="r" b="b" t="t" l="l"/>
              <a:pathLst>
                <a:path h="6544310" w="471678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565656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6540" y="265430"/>
              <a:ext cx="4207510" cy="6043930"/>
            </a:xfrm>
            <a:custGeom>
              <a:avLst/>
              <a:gdLst/>
              <a:ahLst/>
              <a:cxnLst/>
              <a:rect r="r" b="b" t="t" l="l"/>
              <a:pathLst>
                <a:path h="6043930" w="420751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12"/>
              <a:stretch>
                <a:fillRect l="-4235" t="0" r="-5139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953089" y="120650"/>
              <a:ext cx="76541" cy="76201"/>
            </a:xfrm>
            <a:custGeom>
              <a:avLst/>
              <a:gdLst/>
              <a:ahLst/>
              <a:cxnLst/>
              <a:rect r="r" b="b" t="t" l="l"/>
              <a:pathLst>
                <a:path h="76201" w="76541">
                  <a:moveTo>
                    <a:pt x="38271" y="0"/>
                  </a:moveTo>
                  <a:cubicBezTo>
                    <a:pt x="24619" y="-61"/>
                    <a:pt x="11977" y="7187"/>
                    <a:pt x="5133" y="19001"/>
                  </a:cubicBezTo>
                  <a:cubicBezTo>
                    <a:pt x="-1711" y="30814"/>
                    <a:pt x="-1711" y="45386"/>
                    <a:pt x="5133" y="57199"/>
                  </a:cubicBezTo>
                  <a:cubicBezTo>
                    <a:pt x="11977" y="69013"/>
                    <a:pt x="24619" y="76261"/>
                    <a:pt x="38271" y="76200"/>
                  </a:cubicBezTo>
                  <a:cubicBezTo>
                    <a:pt x="51923" y="76261"/>
                    <a:pt x="64565" y="69013"/>
                    <a:pt x="71409" y="57199"/>
                  </a:cubicBezTo>
                  <a:cubicBezTo>
                    <a:pt x="78253" y="45386"/>
                    <a:pt x="78253" y="30814"/>
                    <a:pt x="71409" y="19001"/>
                  </a:cubicBezTo>
                  <a:cubicBezTo>
                    <a:pt x="64565" y="7187"/>
                    <a:pt x="51923" y="-61"/>
                    <a:pt x="3827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121925" y="104139"/>
              <a:ext cx="109709" cy="109221"/>
            </a:xfrm>
            <a:custGeom>
              <a:avLst/>
              <a:gdLst/>
              <a:ahLst/>
              <a:cxnLst/>
              <a:rect r="r" b="b" t="t" l="l"/>
              <a:pathLst>
                <a:path h="109221" w="109709">
                  <a:moveTo>
                    <a:pt x="54855" y="1"/>
                  </a:moveTo>
                  <a:cubicBezTo>
                    <a:pt x="35287" y="-87"/>
                    <a:pt x="17167" y="10303"/>
                    <a:pt x="7357" y="27235"/>
                  </a:cubicBezTo>
                  <a:cubicBezTo>
                    <a:pt x="-2452" y="44168"/>
                    <a:pt x="-2452" y="65054"/>
                    <a:pt x="7357" y="81987"/>
                  </a:cubicBezTo>
                  <a:cubicBezTo>
                    <a:pt x="17167" y="98919"/>
                    <a:pt x="35287" y="109309"/>
                    <a:pt x="54855" y="109221"/>
                  </a:cubicBezTo>
                  <a:cubicBezTo>
                    <a:pt x="74423" y="109309"/>
                    <a:pt x="92543" y="98919"/>
                    <a:pt x="102352" y="81987"/>
                  </a:cubicBezTo>
                  <a:cubicBezTo>
                    <a:pt x="112162" y="65054"/>
                    <a:pt x="112162" y="44168"/>
                    <a:pt x="102352" y="27235"/>
                  </a:cubicBezTo>
                  <a:cubicBezTo>
                    <a:pt x="92543" y="10303"/>
                    <a:pt x="74423" y="-87"/>
                    <a:pt x="54855" y="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30313" y="128270"/>
              <a:ext cx="61233" cy="60961"/>
            </a:xfrm>
            <a:custGeom>
              <a:avLst/>
              <a:gdLst/>
              <a:ahLst/>
              <a:cxnLst/>
              <a:rect r="r" b="b" t="t" l="l"/>
              <a:pathLst>
                <a:path h="60961" w="61233">
                  <a:moveTo>
                    <a:pt x="30617" y="0"/>
                  </a:moveTo>
                  <a:cubicBezTo>
                    <a:pt x="19695" y="-49"/>
                    <a:pt x="9582" y="5750"/>
                    <a:pt x="4107" y="15201"/>
                  </a:cubicBezTo>
                  <a:cubicBezTo>
                    <a:pt x="-1369" y="24651"/>
                    <a:pt x="-1369" y="36309"/>
                    <a:pt x="4107" y="45759"/>
                  </a:cubicBezTo>
                  <a:cubicBezTo>
                    <a:pt x="9582" y="55210"/>
                    <a:pt x="19695" y="61009"/>
                    <a:pt x="30617" y="60960"/>
                  </a:cubicBezTo>
                  <a:cubicBezTo>
                    <a:pt x="41539" y="61009"/>
                    <a:pt x="51652" y="55210"/>
                    <a:pt x="57127" y="45759"/>
                  </a:cubicBezTo>
                  <a:cubicBezTo>
                    <a:pt x="62602" y="36309"/>
                    <a:pt x="62602" y="24651"/>
                    <a:pt x="57127" y="15201"/>
                  </a:cubicBezTo>
                  <a:cubicBezTo>
                    <a:pt x="51652" y="5750"/>
                    <a:pt x="41539" y="-49"/>
                    <a:pt x="306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346897" y="144780"/>
              <a:ext cx="28065" cy="27940"/>
            </a:xfrm>
            <a:custGeom>
              <a:avLst/>
              <a:gdLst/>
              <a:ahLst/>
              <a:cxnLst/>
              <a:rect r="r" b="b" t="t" l="l"/>
              <a:pathLst>
                <a:path h="27940" w="28065">
                  <a:moveTo>
                    <a:pt x="14033" y="0"/>
                  </a:moveTo>
                  <a:cubicBezTo>
                    <a:pt x="9027" y="-22"/>
                    <a:pt x="4392" y="2635"/>
                    <a:pt x="1882" y="6967"/>
                  </a:cubicBezTo>
                  <a:cubicBezTo>
                    <a:pt x="-627" y="11298"/>
                    <a:pt x="-627" y="16642"/>
                    <a:pt x="1882" y="20973"/>
                  </a:cubicBezTo>
                  <a:cubicBezTo>
                    <a:pt x="4392" y="25305"/>
                    <a:pt x="9027" y="27962"/>
                    <a:pt x="14033" y="27940"/>
                  </a:cubicBezTo>
                  <a:cubicBezTo>
                    <a:pt x="19039" y="27962"/>
                    <a:pt x="23674" y="25305"/>
                    <a:pt x="26184" y="20973"/>
                  </a:cubicBezTo>
                  <a:cubicBezTo>
                    <a:pt x="28693" y="16642"/>
                    <a:pt x="28693" y="11298"/>
                    <a:pt x="26184" y="6967"/>
                  </a:cubicBezTo>
                  <a:cubicBezTo>
                    <a:pt x="23674" y="2635"/>
                    <a:pt x="19039" y="-22"/>
                    <a:pt x="14033" y="0"/>
                  </a:cubicBezTo>
                  <a:close/>
                </a:path>
              </a:pathLst>
            </a:custGeom>
            <a:solidFill>
              <a:srgbClr val="E9E8E9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344386" y="144780"/>
              <a:ext cx="15308" cy="15240"/>
            </a:xfrm>
            <a:custGeom>
              <a:avLst/>
              <a:gdLst/>
              <a:ahLst/>
              <a:cxnLst/>
              <a:rect r="r" b="b" t="t" l="l"/>
              <a:pathLst>
                <a:path h="15240" w="15308">
                  <a:moveTo>
                    <a:pt x="7654" y="0"/>
                  </a:moveTo>
                  <a:cubicBezTo>
                    <a:pt x="4924" y="-12"/>
                    <a:pt x="2395" y="1437"/>
                    <a:pt x="1026" y="3800"/>
                  </a:cubicBezTo>
                  <a:cubicBezTo>
                    <a:pt x="-342" y="6163"/>
                    <a:pt x="-342" y="9077"/>
                    <a:pt x="1026" y="11440"/>
                  </a:cubicBezTo>
                  <a:cubicBezTo>
                    <a:pt x="2395" y="13803"/>
                    <a:pt x="4924" y="15252"/>
                    <a:pt x="7654" y="15240"/>
                  </a:cubicBezTo>
                  <a:cubicBezTo>
                    <a:pt x="10384" y="15252"/>
                    <a:pt x="12913" y="13803"/>
                    <a:pt x="14281" y="11440"/>
                  </a:cubicBezTo>
                  <a:cubicBezTo>
                    <a:pt x="15650" y="9077"/>
                    <a:pt x="15650" y="6163"/>
                    <a:pt x="14281" y="3800"/>
                  </a:cubicBezTo>
                  <a:cubicBezTo>
                    <a:pt x="12913" y="1437"/>
                    <a:pt x="10384" y="-12"/>
                    <a:pt x="7654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716780" y="534670"/>
              <a:ext cx="16622" cy="278130"/>
            </a:xfrm>
            <a:custGeom>
              <a:avLst/>
              <a:gdLst/>
              <a:ahLst/>
              <a:cxnLst/>
              <a:rect r="r" b="b" t="t" l="l"/>
              <a:pathLst>
                <a:path h="278130" w="16622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4716780" y="861060"/>
              <a:ext cx="16622" cy="278130"/>
            </a:xfrm>
            <a:custGeom>
              <a:avLst/>
              <a:gdLst/>
              <a:ahLst/>
              <a:cxnLst/>
              <a:rect r="r" b="b" t="t" l="l"/>
              <a:pathLst>
                <a:path h="278130" w="16622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064000" y="-113"/>
              <a:ext cx="320040" cy="16623"/>
            </a:xfrm>
            <a:custGeom>
              <a:avLst/>
              <a:gdLst/>
              <a:ahLst/>
              <a:cxnLst/>
              <a:rect r="r" b="b" t="t" l="l"/>
              <a:pathLst>
                <a:path h="16623" w="320040">
                  <a:moveTo>
                    <a:pt x="0" y="16623"/>
                  </a:moveTo>
                  <a:lnTo>
                    <a:pt x="320040" y="16623"/>
                  </a:lnTo>
                  <a:cubicBezTo>
                    <a:pt x="320040" y="-2427"/>
                    <a:pt x="304800" y="113"/>
                    <a:pt x="285750" y="113"/>
                  </a:cubicBezTo>
                  <a:lnTo>
                    <a:pt x="34290" y="113"/>
                  </a:lnTo>
                  <a:cubicBezTo>
                    <a:pt x="15240" y="113"/>
                    <a:pt x="0" y="-2427"/>
                    <a:pt x="0" y="16623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6927865" y="1697603"/>
            <a:ext cx="1114644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🔄 </a:t>
            </a:r>
            <a:r>
              <a:rPr lang="en-US" sz="1999" b="true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Workflow de Automação no Zapier</a:t>
            </a: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Reações no Slack Acionando Respostas do ChatGPT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30784" y="4612114"/>
            <a:ext cx="5614147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</a:t>
            </a: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1599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Gatilho no Slack</a:t>
            </a:r>
            <a:r>
              <a:rPr lang="en-US" b="true" sz="15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A automação começa quando uma 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reação </a:t>
            </a:r>
            <a:r>
              <a:rPr lang="en-US" b="true" sz="15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 o emoji de gravatinha (:bowtie:) é adicionada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em uma conversa no Slack.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56026" y="6133574"/>
            <a:ext cx="5614147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b="true" sz="1599" spc="54">
                <a:solidFill>
                  <a:srgbClr val="E9E8E9"/>
                </a:solidFill>
                <a:latin typeface="Arimo Bold"/>
                <a:ea typeface="Arimo Bold"/>
                <a:cs typeface="Arimo Bold"/>
                <a:sym typeface="Arimo Bold"/>
              </a:rPr>
              <a:t>2. </a:t>
            </a:r>
            <a:r>
              <a:rPr lang="en-US" b="true" sz="1599" spc="54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Ch</a:t>
            </a:r>
            <a:r>
              <a:rPr lang="en-US" b="true" sz="1599" spc="54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atGPT</a:t>
            </a:r>
            <a:r>
              <a:rPr lang="en-US" b="true" sz="1599" spc="5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A mensage</a:t>
            </a:r>
            <a:r>
              <a:rPr lang="en-US" b="true" sz="1599" spc="5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 é enviada para o ChatGPT, que gera uma resposta.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2330784" y="7353092"/>
            <a:ext cx="5614147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b="true" sz="1599" spc="55">
                <a:solidFill>
                  <a:srgbClr val="E9E8E9"/>
                </a:solidFill>
                <a:latin typeface="Arimo Bold"/>
                <a:ea typeface="Arimo Bold"/>
                <a:cs typeface="Arimo Bold"/>
                <a:sym typeface="Arimo Bold"/>
              </a:rPr>
              <a:t>3.</a:t>
            </a:r>
            <a:r>
              <a:rPr lang="en-US" b="true" sz="1599" spc="55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 Resposta no Slack</a:t>
            </a:r>
            <a:r>
              <a:rPr lang="en-US" b="true" sz="1599" spc="55">
                <a:solidFill>
                  <a:srgbClr val="E9E8E9"/>
                </a:solidFill>
                <a:latin typeface="Arimo Bold"/>
                <a:ea typeface="Arimo Bold"/>
                <a:cs typeface="Arimo Bold"/>
                <a:sym typeface="Arimo Bold"/>
              </a:rPr>
              <a:t>: A resposta do ChatGPT é enviada de volta para o canal no Slack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AutoShape 37" id="37"/>
          <p:cNvSpPr/>
          <p:nvPr/>
        </p:nvSpPr>
        <p:spPr>
          <a:xfrm>
            <a:off x="11945467" y="6871127"/>
            <a:ext cx="6435264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2330784" y="8617377"/>
            <a:ext cx="6334702" cy="105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  <a:spcBef>
                <a:spcPct val="0"/>
              </a:spcBef>
            </a:pPr>
            <a:r>
              <a:rPr lang="en-US" b="true" sz="1799" spc="1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Em resumo, ao adicionar a </a:t>
            </a:r>
            <a:r>
              <a:rPr lang="en-US" b="true" sz="1799" spc="10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reação :bowtie:</a:t>
            </a:r>
            <a:r>
              <a:rPr lang="en-US" b="true" sz="1799" spc="1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em uma mensagem </a:t>
            </a:r>
            <a:r>
              <a:rPr lang="en-US" b="true" sz="1799" spc="1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 </a:t>
            </a:r>
            <a:r>
              <a:rPr lang="en-US" b="true" sz="1799" spc="10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Slack</a:t>
            </a:r>
            <a:r>
              <a:rPr lang="en-US" b="true" sz="1799" spc="1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, o </a:t>
            </a:r>
            <a:r>
              <a:rPr lang="en-US" b="true" sz="1799" spc="10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ChatGPT  3.5 Turbo</a:t>
            </a:r>
            <a:r>
              <a:rPr lang="en-US" b="true" sz="1799" spc="1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, gera umaresposta automática que é publicada no canal.</a:t>
            </a:r>
          </a:p>
        </p:txBody>
      </p:sp>
      <p:sp>
        <p:nvSpPr>
          <p:cNvPr name="AutoShape 39" id="39"/>
          <p:cNvSpPr/>
          <p:nvPr/>
        </p:nvSpPr>
        <p:spPr>
          <a:xfrm flipV="true">
            <a:off x="11945467" y="8103027"/>
            <a:ext cx="6435264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3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31499" y="340855"/>
            <a:ext cx="3670800" cy="555035"/>
          </a:xfrm>
          <a:custGeom>
            <a:avLst/>
            <a:gdLst/>
            <a:ahLst/>
            <a:cxnLst/>
            <a:rect r="r" b="b" t="t" l="l"/>
            <a:pathLst>
              <a:path h="555035" w="3670800">
                <a:moveTo>
                  <a:pt x="0" y="0"/>
                </a:moveTo>
                <a:lnTo>
                  <a:pt x="3670800" y="0"/>
                </a:lnTo>
                <a:lnTo>
                  <a:pt x="3670800" y="555035"/>
                </a:lnTo>
                <a:lnTo>
                  <a:pt x="0" y="55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" y="1203890"/>
            <a:ext cx="18288010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90269" y="6400095"/>
            <a:ext cx="3884334" cy="3918062"/>
          </a:xfrm>
          <a:custGeom>
            <a:avLst/>
            <a:gdLst/>
            <a:ahLst/>
            <a:cxnLst/>
            <a:rect r="r" b="b" t="t" l="l"/>
            <a:pathLst>
              <a:path h="3918062" w="3884334">
                <a:moveTo>
                  <a:pt x="0" y="0"/>
                </a:moveTo>
                <a:lnTo>
                  <a:pt x="3884334" y="0"/>
                </a:lnTo>
                <a:lnTo>
                  <a:pt x="3884334" y="3918062"/>
                </a:lnTo>
                <a:lnTo>
                  <a:pt x="0" y="391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5006" r="-378415" b="-178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790180" y="6294387"/>
            <a:ext cx="4504739" cy="5382350"/>
            <a:chOff x="0" y="0"/>
            <a:chExt cx="6006319" cy="7176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66548" y="826"/>
              <a:ext cx="5313545" cy="5359682"/>
            </a:xfrm>
            <a:custGeom>
              <a:avLst/>
              <a:gdLst/>
              <a:ahLst/>
              <a:cxnLst/>
              <a:rect r="r" b="b" t="t" l="l"/>
              <a:pathLst>
                <a:path h="5359682" w="5313545">
                  <a:moveTo>
                    <a:pt x="0" y="0"/>
                  </a:moveTo>
                  <a:lnTo>
                    <a:pt x="5313545" y="0"/>
                  </a:lnTo>
                  <a:lnTo>
                    <a:pt x="5313545" y="5359682"/>
                  </a:lnTo>
                  <a:lnTo>
                    <a:pt x="0" y="5359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5006" r="-378415" b="-1785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>
              <a:off x="5980093" y="27680"/>
              <a:ext cx="0" cy="7148787"/>
            </a:xfrm>
            <a:prstGeom prst="line">
              <a:avLst/>
            </a:prstGeom>
            <a:ln cap="flat" w="52452">
              <a:solidFill>
                <a:srgbClr val="EABD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3" y="26226"/>
              <a:ext cx="6006312" cy="775"/>
            </a:xfrm>
            <a:prstGeom prst="line">
              <a:avLst/>
            </a:prstGeom>
            <a:ln cap="flat" w="52452">
              <a:solidFill>
                <a:srgbClr val="EABD3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29310" y="151189"/>
            <a:ext cx="13357443" cy="875466"/>
            <a:chOff x="0" y="0"/>
            <a:chExt cx="17809924" cy="116728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21138"/>
              <a:ext cx="17809924" cy="946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b="true" sz="1999" spc="109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SUMBOT FREECODE: </a:t>
              </a:r>
            </a:p>
            <a:p>
              <a:pPr algn="ctr">
                <a:lnSpc>
                  <a:spcPts val="2999"/>
                </a:lnSpc>
              </a:pPr>
              <a:r>
                <a:rPr lang="en-US" b="true" sz="1999" spc="109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🦾🤖 CHATBOT IA INTEGRADO AO SLACK COM OPENAI GPT-3.5 TURBO API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5887726" y="0"/>
              <a:ext cx="819544" cy="735488"/>
            </a:xfrm>
            <a:custGeom>
              <a:avLst/>
              <a:gdLst/>
              <a:ahLst/>
              <a:cxnLst/>
              <a:rect r="r" b="b" t="t" l="l"/>
              <a:pathLst>
                <a:path h="735488" w="819544">
                  <a:moveTo>
                    <a:pt x="0" y="0"/>
                  </a:moveTo>
                  <a:lnTo>
                    <a:pt x="819544" y="0"/>
                  </a:lnTo>
                  <a:lnTo>
                    <a:pt x="819544" y="735488"/>
                  </a:lnTo>
                  <a:lnTo>
                    <a:pt x="0" y="73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907352" y="2309425"/>
            <a:ext cx="11894947" cy="7711891"/>
            <a:chOff x="0" y="0"/>
            <a:chExt cx="9144000" cy="5928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22300" y="203200"/>
              <a:ext cx="7848600" cy="4965700"/>
            </a:xfrm>
            <a:custGeom>
              <a:avLst/>
              <a:gdLst/>
              <a:ahLst/>
              <a:cxnLst/>
              <a:rect r="r" b="b" t="t" l="l"/>
              <a:pathLst>
                <a:path h="4965700" w="7848600">
                  <a:moveTo>
                    <a:pt x="0" y="0"/>
                  </a:moveTo>
                  <a:lnTo>
                    <a:pt x="7848600" y="0"/>
                  </a:lnTo>
                  <a:lnTo>
                    <a:pt x="7848600" y="4965700"/>
                  </a:lnTo>
                  <a:lnTo>
                    <a:pt x="0" y="496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266" t="0" r="-6266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5928360"/>
            </a:xfrm>
            <a:custGeom>
              <a:avLst/>
              <a:gdLst/>
              <a:ahLst/>
              <a:cxnLst/>
              <a:rect r="r" b="b" t="t" l="l"/>
              <a:pathLst>
                <a:path h="5928360" w="9144000">
                  <a:moveTo>
                    <a:pt x="9144000" y="5928360"/>
                  </a:moveTo>
                  <a:lnTo>
                    <a:pt x="0" y="592836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592836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274204" y="4097585"/>
            <a:ext cx="574049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29310" y="1553775"/>
            <a:ext cx="457865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782793" y="6813977"/>
            <a:ext cx="101621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269877" y="1544250"/>
            <a:ext cx="585960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7690" y="1978590"/>
            <a:ext cx="629554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71">
                <a:solidFill>
                  <a:srgbClr val="FFFEFE"/>
                </a:solidFill>
                <a:latin typeface="Gordita Bold"/>
                <a:ea typeface="Gordita Bold"/>
                <a:cs typeface="Gordita Bold"/>
                <a:sym typeface="Gordita Bold"/>
              </a:rPr>
              <a:t>PARA CRIAR  SEU PRÓPRIO </a:t>
            </a:r>
            <a:r>
              <a:rPr lang="en-US" b="true" sz="1599" spc="71">
                <a:solidFill>
                  <a:srgbClr val="EABD30"/>
                </a:solidFill>
                <a:latin typeface="Gordita Bold"/>
                <a:ea typeface="Gordita Bold"/>
                <a:cs typeface="Gordita Bold"/>
                <a:sym typeface="Gordita Bold"/>
              </a:rPr>
              <a:t>SUMBOT</a:t>
            </a:r>
            <a:r>
              <a:rPr lang="en-US" b="true" sz="1599" spc="71">
                <a:solidFill>
                  <a:srgbClr val="FFFEFE"/>
                </a:solidFill>
                <a:latin typeface="Gordita Bold"/>
                <a:ea typeface="Gordita Bold"/>
                <a:cs typeface="Gordita Bold"/>
                <a:sym typeface="Gordita Bold"/>
              </a:rPr>
              <a:t>, ACESSE: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7690" y="3096128"/>
            <a:ext cx="6057288" cy="2333750"/>
            <a:chOff x="0" y="0"/>
            <a:chExt cx="8076385" cy="311166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92075"/>
              <a:ext cx="8076385" cy="3019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1799" spc="-21">
                  <a:solidFill>
                    <a:srgbClr val="3199EB"/>
                  </a:solidFill>
                  <a:latin typeface="Arimo"/>
                  <a:ea typeface="Arimo"/>
                  <a:cs typeface="Arimo"/>
                  <a:sym typeface="Arimo"/>
                </a:rPr>
                <a:t>         </a:t>
              </a:r>
              <a:r>
                <a:rPr lang="en-US" b="true" sz="1799" spc="-2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  <a:hlinkClick r:id="rId7" tooltip="https://github.com/Mindful-AI-Assistants/SumBot"/>
                </a:rPr>
                <a:t>GitHub:</a:t>
              </a:r>
              <a:r>
                <a:rPr lang="en-US" b="true" sz="1799" spc="-21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  <a:hlinkClick r:id="rId8" tooltip="https://github.com/Mindful-AI-Assistants/SumBot"/>
                </a:rPr>
                <a:t> </a:t>
              </a:r>
            </a:p>
            <a:p>
              <a:pPr algn="l">
                <a:lnSpc>
                  <a:spcPts val="2511"/>
                </a:lnSpc>
              </a:pPr>
              <a:r>
                <a:rPr lang="en-US" b="true" sz="1599" spc="-19" u="sng">
                  <a:solidFill>
                    <a:srgbClr val="1DA4F1"/>
                  </a:solidFill>
                  <a:latin typeface="Arimo Bold"/>
                  <a:ea typeface="Arimo Bold"/>
                  <a:cs typeface="Arimo Bold"/>
                  <a:sym typeface="Arimo Bold"/>
                  <a:hlinkClick r:id="rId9" tooltip="https://github.com/Mindful-AI-Assistants/SumBot"/>
                </a:rPr>
                <a:t>https://github.com/Mindful-AI-Assistants/SumBot</a:t>
              </a:r>
            </a:p>
            <a:p>
              <a:pPr algn="l">
                <a:lnSpc>
                  <a:spcPts val="2607"/>
                </a:lnSpc>
              </a:pPr>
            </a:p>
            <a:p>
              <a:pPr algn="l">
                <a:lnSpc>
                  <a:spcPts val="2607"/>
                </a:lnSpc>
              </a:pPr>
            </a:p>
            <a:p>
              <a:pPr algn="l">
                <a:lnSpc>
                  <a:spcPts val="2933"/>
                </a:lnSpc>
              </a:pPr>
              <a:r>
                <a:rPr lang="en-US" sz="1799" spc="-2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</a:t>
              </a:r>
              <a:r>
                <a:rPr lang="en-US" b="true" sz="1799" spc="-2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  <a:hlinkClick r:id="rId10" tooltip="https://github.com/Mindful-AI-Assistants/SumBot"/>
                </a:rPr>
                <a:t>Ready Tensor AI:   </a:t>
              </a:r>
            </a:p>
            <a:p>
              <a:pPr algn="l">
                <a:lnSpc>
                  <a:spcPts val="2831"/>
                </a:lnSpc>
              </a:pPr>
              <a:r>
                <a:rPr lang="en-US" b="true" sz="1737" spc="-20" u="sng">
                  <a:solidFill>
                    <a:srgbClr val="1DA4F1"/>
                  </a:solidFill>
                  <a:latin typeface="Arimo Bold"/>
                  <a:ea typeface="Arimo Bold"/>
                  <a:cs typeface="Arimo Bold"/>
                  <a:sym typeface="Arimo Bold"/>
                  <a:hlinkClick r:id="rId11" tooltip="https://github.com/Mindful-AI-Assistants/SumBot"/>
                </a:rPr>
                <a:t>https://app.readytensor.ai/publications/uaWsno2Z7r2a</a:t>
              </a:r>
            </a:p>
            <a:p>
              <a:pPr algn="l">
                <a:lnSpc>
                  <a:spcPts val="1471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9510" cy="599510"/>
            </a:xfrm>
            <a:custGeom>
              <a:avLst/>
              <a:gdLst/>
              <a:ahLst/>
              <a:cxnLst/>
              <a:rect r="r" b="b" t="t" l="l"/>
              <a:pathLst>
                <a:path h="599510" w="599510">
                  <a:moveTo>
                    <a:pt x="0" y="0"/>
                  </a:moveTo>
                  <a:lnTo>
                    <a:pt x="599510" y="0"/>
                  </a:lnTo>
                  <a:lnTo>
                    <a:pt x="599510" y="599510"/>
                  </a:lnTo>
                  <a:lnTo>
                    <a:pt x="0" y="59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801715"/>
              <a:ext cx="504917" cy="526870"/>
            </a:xfrm>
            <a:custGeom>
              <a:avLst/>
              <a:gdLst/>
              <a:ahLst/>
              <a:cxnLst/>
              <a:rect r="r" b="b" t="t" l="l"/>
              <a:pathLst>
                <a:path h="526870" w="504917">
                  <a:moveTo>
                    <a:pt x="0" y="0"/>
                  </a:moveTo>
                  <a:lnTo>
                    <a:pt x="504917" y="0"/>
                  </a:lnTo>
                  <a:lnTo>
                    <a:pt x="504917" y="526870"/>
                  </a:lnTo>
                  <a:lnTo>
                    <a:pt x="0" y="52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181913" y="1467225"/>
            <a:ext cx="8030617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</a:pPr>
            <a:r>
              <a:rPr lang="en-US" sz="1999" b="true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Testando o SumBot em Ação 🚀: </a:t>
            </a:r>
          </a:p>
          <a:p>
            <a:pPr algn="ctr">
              <a:lnSpc>
                <a:spcPts val="2259"/>
              </a:lnSpc>
            </a:pPr>
            <a:r>
              <a:rPr lang="en-US" b="true" sz="1999">
                <a:solidFill>
                  <a:srgbClr val="FFFEFE"/>
                </a:solidFill>
                <a:latin typeface="Arimo Bold"/>
                <a:ea typeface="Arimo Bold"/>
                <a:cs typeface="Arimo Bold"/>
                <a:sym typeface="Arimo Bold"/>
              </a:rPr>
              <a:t>Mensagens Bilíngues com o Auxílio da Assistente AI Mônica 💬🤖"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3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31499" y="340855"/>
            <a:ext cx="3670800" cy="555035"/>
          </a:xfrm>
          <a:custGeom>
            <a:avLst/>
            <a:gdLst/>
            <a:ahLst/>
            <a:cxnLst/>
            <a:rect r="r" b="b" t="t" l="l"/>
            <a:pathLst>
              <a:path h="555035" w="3670800">
                <a:moveTo>
                  <a:pt x="0" y="0"/>
                </a:moveTo>
                <a:lnTo>
                  <a:pt x="3670800" y="0"/>
                </a:lnTo>
                <a:lnTo>
                  <a:pt x="3670800" y="555035"/>
                </a:lnTo>
                <a:lnTo>
                  <a:pt x="0" y="55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" y="1203890"/>
            <a:ext cx="18288010" cy="0"/>
          </a:xfrm>
          <a:prstGeom prst="line">
            <a:avLst/>
          </a:prstGeom>
          <a:ln cap="flat" w="38100">
            <a:solidFill>
              <a:srgbClr val="EAB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90269" y="6400095"/>
            <a:ext cx="3884334" cy="3918062"/>
          </a:xfrm>
          <a:custGeom>
            <a:avLst/>
            <a:gdLst/>
            <a:ahLst/>
            <a:cxnLst/>
            <a:rect r="r" b="b" t="t" l="l"/>
            <a:pathLst>
              <a:path h="3918062" w="3884334">
                <a:moveTo>
                  <a:pt x="0" y="0"/>
                </a:moveTo>
                <a:lnTo>
                  <a:pt x="3884334" y="0"/>
                </a:lnTo>
                <a:lnTo>
                  <a:pt x="3884334" y="3918062"/>
                </a:lnTo>
                <a:lnTo>
                  <a:pt x="0" y="391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5006" r="-378415" b="-178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790180" y="6294387"/>
            <a:ext cx="4504739" cy="5382350"/>
            <a:chOff x="0" y="0"/>
            <a:chExt cx="6006319" cy="7176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66548" y="826"/>
              <a:ext cx="5313545" cy="5359682"/>
            </a:xfrm>
            <a:custGeom>
              <a:avLst/>
              <a:gdLst/>
              <a:ahLst/>
              <a:cxnLst/>
              <a:rect r="r" b="b" t="t" l="l"/>
              <a:pathLst>
                <a:path h="5359682" w="5313545">
                  <a:moveTo>
                    <a:pt x="0" y="0"/>
                  </a:moveTo>
                  <a:lnTo>
                    <a:pt x="5313545" y="0"/>
                  </a:lnTo>
                  <a:lnTo>
                    <a:pt x="5313545" y="5359682"/>
                  </a:lnTo>
                  <a:lnTo>
                    <a:pt x="0" y="5359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5006" r="-378415" b="-1785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>
              <a:off x="5980093" y="27680"/>
              <a:ext cx="0" cy="7148787"/>
            </a:xfrm>
            <a:prstGeom prst="line">
              <a:avLst/>
            </a:prstGeom>
            <a:ln cap="flat" w="52452">
              <a:solidFill>
                <a:srgbClr val="EABD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3" y="26226"/>
              <a:ext cx="6006312" cy="775"/>
            </a:xfrm>
            <a:prstGeom prst="line">
              <a:avLst/>
            </a:prstGeom>
            <a:ln cap="flat" w="52452">
              <a:solidFill>
                <a:srgbClr val="EABD3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329310" y="302755"/>
            <a:ext cx="1335744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1999" spc="109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SUMBOT FREECODE: </a:t>
            </a:r>
          </a:p>
          <a:p>
            <a:pPr algn="ctr">
              <a:lnSpc>
                <a:spcPts val="2999"/>
              </a:lnSpc>
            </a:pPr>
            <a:r>
              <a:rPr lang="en-US" b="true" sz="1999" spc="109">
                <a:solidFill>
                  <a:srgbClr val="EABD30"/>
                </a:solidFill>
                <a:latin typeface="Arimo Bold"/>
                <a:ea typeface="Arimo Bold"/>
                <a:cs typeface="Arimo Bold"/>
                <a:sym typeface="Arimo Bold"/>
              </a:rPr>
              <a:t>🦾🤖 CHATBOT IA INTEGRADO AO SLACK COM OPENAI GPT-3.5 TURBO API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74204" y="4097585"/>
            <a:ext cx="574049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27690" y="3096128"/>
            <a:ext cx="6057288" cy="2333750"/>
            <a:chOff x="0" y="0"/>
            <a:chExt cx="8076385" cy="311166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2075"/>
              <a:ext cx="8076385" cy="3019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1799" spc="-21">
                  <a:solidFill>
                    <a:srgbClr val="3199EB"/>
                  </a:solidFill>
                  <a:latin typeface="Arimo"/>
                  <a:ea typeface="Arimo"/>
                  <a:cs typeface="Arimo"/>
                  <a:sym typeface="Arimo"/>
                </a:rPr>
                <a:t>         </a:t>
              </a:r>
              <a:r>
                <a:rPr lang="en-US" b="true" sz="1799" spc="-2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  <a:hlinkClick r:id="rId4" tooltip="https://github.com/Mindful-AI-Assistants/SumBot"/>
                </a:rPr>
                <a:t>GitHub:</a:t>
              </a:r>
              <a:r>
                <a:rPr lang="en-US" b="true" sz="1799" spc="-21">
                  <a:solidFill>
                    <a:srgbClr val="EABD30"/>
                  </a:solidFill>
                  <a:latin typeface="Arimo Bold"/>
                  <a:ea typeface="Arimo Bold"/>
                  <a:cs typeface="Arimo Bold"/>
                  <a:sym typeface="Arimo Bold"/>
                  <a:hlinkClick r:id="rId5" tooltip="https://github.com/Mindful-AI-Assistants/SumBot"/>
                </a:rPr>
                <a:t> </a:t>
              </a:r>
            </a:p>
            <a:p>
              <a:pPr algn="l">
                <a:lnSpc>
                  <a:spcPts val="2511"/>
                </a:lnSpc>
              </a:pPr>
              <a:r>
                <a:rPr lang="en-US" b="true" sz="1599" spc="-19" u="sng">
                  <a:solidFill>
                    <a:srgbClr val="1DA4F1"/>
                  </a:solidFill>
                  <a:latin typeface="Arimo Bold"/>
                  <a:ea typeface="Arimo Bold"/>
                  <a:cs typeface="Arimo Bold"/>
                  <a:sym typeface="Arimo Bold"/>
                  <a:hlinkClick r:id="rId6" tooltip="https://github.com/Mindful-AI-Assistants/SumBot"/>
                </a:rPr>
                <a:t>https://github.com/Mindful-AI-Assistants/SumBot</a:t>
              </a:r>
            </a:p>
            <a:p>
              <a:pPr algn="l">
                <a:lnSpc>
                  <a:spcPts val="2607"/>
                </a:lnSpc>
              </a:pPr>
            </a:p>
            <a:p>
              <a:pPr algn="l">
                <a:lnSpc>
                  <a:spcPts val="2607"/>
                </a:lnSpc>
              </a:pPr>
            </a:p>
            <a:p>
              <a:pPr algn="l">
                <a:lnSpc>
                  <a:spcPts val="2933"/>
                </a:lnSpc>
              </a:pPr>
              <a:r>
                <a:rPr lang="en-US" sz="1799" spc="-2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</a:t>
              </a:r>
              <a:r>
                <a:rPr lang="en-US" b="true" sz="1799" spc="-2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  <a:hlinkClick r:id="rId7" tooltip="https://github.com/Mindful-AI-Assistants/SumBot"/>
                </a:rPr>
                <a:t>Ready Tensor AI:   </a:t>
              </a:r>
            </a:p>
            <a:p>
              <a:pPr algn="l">
                <a:lnSpc>
                  <a:spcPts val="2831"/>
                </a:lnSpc>
              </a:pPr>
              <a:r>
                <a:rPr lang="en-US" b="true" sz="1737" spc="-20" u="sng">
                  <a:solidFill>
                    <a:srgbClr val="1DA4F1"/>
                  </a:solidFill>
                  <a:latin typeface="Arimo Bold"/>
                  <a:ea typeface="Arimo Bold"/>
                  <a:cs typeface="Arimo Bold"/>
                  <a:sym typeface="Arimo Bold"/>
                  <a:hlinkClick r:id="rId8" tooltip="https://github.com/Mindful-AI-Assistants/SumBot"/>
                </a:rPr>
                <a:t>https://app.readytensor.ai/publications/uaWsno2Z7r2a</a:t>
              </a:r>
            </a:p>
            <a:p>
              <a:pPr algn="l">
                <a:lnSpc>
                  <a:spcPts val="1471"/>
                </a:lnSpc>
              </a:pP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9510" cy="599510"/>
            </a:xfrm>
            <a:custGeom>
              <a:avLst/>
              <a:gdLst/>
              <a:ahLst/>
              <a:cxnLst/>
              <a:rect r="r" b="b" t="t" l="l"/>
              <a:pathLst>
                <a:path h="599510" w="599510">
                  <a:moveTo>
                    <a:pt x="0" y="0"/>
                  </a:moveTo>
                  <a:lnTo>
                    <a:pt x="599510" y="0"/>
                  </a:lnTo>
                  <a:lnTo>
                    <a:pt x="599510" y="599510"/>
                  </a:lnTo>
                  <a:lnTo>
                    <a:pt x="0" y="59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801715"/>
              <a:ext cx="504917" cy="526870"/>
            </a:xfrm>
            <a:custGeom>
              <a:avLst/>
              <a:gdLst/>
              <a:ahLst/>
              <a:cxnLst/>
              <a:rect r="r" b="b" t="t" l="l"/>
              <a:pathLst>
                <a:path h="526870" w="504917">
                  <a:moveTo>
                    <a:pt x="0" y="0"/>
                  </a:moveTo>
                  <a:lnTo>
                    <a:pt x="504917" y="0"/>
                  </a:lnTo>
                  <a:lnTo>
                    <a:pt x="504917" y="526870"/>
                  </a:lnTo>
                  <a:lnTo>
                    <a:pt x="0" y="52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29310" y="1553775"/>
            <a:ext cx="457865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782793" y="6813977"/>
            <a:ext cx="101621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269877" y="1544250"/>
            <a:ext cx="585960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7690" y="1978590"/>
            <a:ext cx="629554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71">
                <a:solidFill>
                  <a:srgbClr val="FFFEFE"/>
                </a:solidFill>
                <a:latin typeface="Gordita Bold"/>
                <a:ea typeface="Gordita Bold"/>
                <a:cs typeface="Gordita Bold"/>
                <a:sym typeface="Gordita Bold"/>
              </a:rPr>
              <a:t>PARA CRIAR  SEU PRÓPRIO </a:t>
            </a:r>
            <a:r>
              <a:rPr lang="en-US" b="true" sz="1599" spc="71">
                <a:solidFill>
                  <a:srgbClr val="EABD30"/>
                </a:solidFill>
                <a:latin typeface="Gordita Bold"/>
                <a:ea typeface="Gordita Bold"/>
                <a:cs typeface="Gordita Bold"/>
                <a:sym typeface="Gordita Bold"/>
              </a:rPr>
              <a:t>SUMBOT</a:t>
            </a:r>
            <a:r>
              <a:rPr lang="en-US" b="true" sz="1599" spc="71">
                <a:solidFill>
                  <a:srgbClr val="FFFEFE"/>
                </a:solidFill>
                <a:latin typeface="Gordita Bold"/>
                <a:ea typeface="Gordita Bold"/>
                <a:cs typeface="Gordita Bold"/>
                <a:sym typeface="Gordita Bold"/>
              </a:rPr>
              <a:t>, ACESSE: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801410" y="3523917"/>
            <a:ext cx="2915420" cy="2629883"/>
          </a:xfrm>
          <a:custGeom>
            <a:avLst/>
            <a:gdLst/>
            <a:ahLst/>
            <a:cxnLst/>
            <a:rect r="r" b="b" t="t" l="l"/>
            <a:pathLst>
              <a:path h="2629883" w="2915420">
                <a:moveTo>
                  <a:pt x="0" y="0"/>
                </a:moveTo>
                <a:lnTo>
                  <a:pt x="2915420" y="0"/>
                </a:lnTo>
                <a:lnTo>
                  <a:pt x="2915420" y="2629883"/>
                </a:lnTo>
                <a:lnTo>
                  <a:pt x="0" y="26298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515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254341" y="6925325"/>
            <a:ext cx="12547959" cy="119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Agradeço por assistir!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Foi um prazer compartilhar este projeto com vocês ! 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DAGVjifhGdA</dc:identifier>
  <dcterms:modified xsi:type="dcterms:W3CDTF">2011-08-01T06:04:30Z</dcterms:modified>
  <cp:revision>1</cp:revision>
  <dc:title>Fabiana 🚀 Campanari  PUC-SP</dc:title>
</cp:coreProperties>
</file>